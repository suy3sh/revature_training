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5"/>
    <p:sldMasterId id="214748370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y="5143500" cx="9144000"/>
  <p:notesSz cx="6858000" cy="9144000"/>
  <p:embeddedFontLst>
    <p:embeddedFont>
      <p:font typeface="Inter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80EFF0-DB22-42A8-9BD6-F4F7823A8192}">
  <a:tblStyle styleId="{FB80EFF0-DB22-42A8-9BD6-F4F7823A81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font" Target="fonts/Inter-regular.fntdata"/><Relationship Id="rId12" Type="http://schemas.openxmlformats.org/officeDocument/2006/relationships/slide" Target="slides/slide5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6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1a699912e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b1a699912e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1a699912e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b1a699912e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quick overview of the application, users are able to play the classic games Coin Flip and Rock Paper Scissors. Each user has a number points associated with their Player and is able to wager those points everytime they play a game and go against the Arcade. Each of the wagers and points are tracked for each of the Players in the database.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my project structure, I have a repository layer that communicates with the PostgreSQL database using the JDBC API; a service layer that handles the business logic of the application and handles all the CRUD operations for the entities from the REPO  layer; and a controller layer that handles input and output for game and player interactions. Finally, there is the Main function that runs the whole thing.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360bd05e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b360bd05e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It’s in </a:t>
            </a:r>
            <a:r>
              <a:rPr b="1" lang="en">
                <a:solidFill>
                  <a:schemeClr val="dk1"/>
                </a:solidFill>
              </a:rPr>
              <a:t>1NF</a:t>
            </a:r>
            <a:r>
              <a:rPr lang="en">
                <a:solidFill>
                  <a:schemeClr val="dk1"/>
                </a:solidFill>
              </a:rPr>
              <a:t>: columns are atomic (no lists/arrays in a single column), rows are unique.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It’s in </a:t>
            </a:r>
            <a:r>
              <a:rPr b="1" lang="en">
                <a:solidFill>
                  <a:schemeClr val="dk1"/>
                </a:solidFill>
              </a:rPr>
              <a:t>2NF</a:t>
            </a:r>
            <a:r>
              <a:rPr lang="en">
                <a:solidFill>
                  <a:schemeClr val="dk1"/>
                </a:solidFill>
              </a:rPr>
              <a:t>: every non-key column depends on the </a:t>
            </a:r>
            <a:r>
              <a:rPr i="1" lang="en">
                <a:solidFill>
                  <a:schemeClr val="dk1"/>
                </a:solidFill>
              </a:rPr>
              <a:t>whole</a:t>
            </a:r>
            <a:r>
              <a:rPr lang="en">
                <a:solidFill>
                  <a:schemeClr val="dk1"/>
                </a:solidFill>
              </a:rPr>
              <a:t> key (mostly relevant for composite keys).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It’s in </a:t>
            </a:r>
            <a:r>
              <a:rPr b="1" lang="en">
                <a:solidFill>
                  <a:schemeClr val="dk1"/>
                </a:solidFill>
              </a:rPr>
              <a:t>3NF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b="1" lang="en">
                <a:solidFill>
                  <a:schemeClr val="dk1"/>
                </a:solidFill>
              </a:rPr>
              <a:t>no transitive dependencies</a:t>
            </a:r>
            <a:r>
              <a:rPr lang="en">
                <a:solidFill>
                  <a:schemeClr val="dk1"/>
                </a:solidFill>
              </a:rPr>
              <a:t> — non-key columns depend </a:t>
            </a:r>
            <a:r>
              <a:rPr b="1" lang="en">
                <a:solidFill>
                  <a:schemeClr val="dk1"/>
                </a:solidFill>
              </a:rPr>
              <a:t>only</a:t>
            </a:r>
            <a:r>
              <a:rPr lang="en">
                <a:solidFill>
                  <a:schemeClr val="dk1"/>
                </a:solidFill>
              </a:rPr>
              <a:t> on the primary key, not on other non-key columns.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 order to achieve a many-to-many relationship, I have many players playing many games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1a699912e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b1a699912e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360bd05e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b360bd05e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6" name="Google Shape;76;p1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8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8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9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2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1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4" name="Google Shape;114;p22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22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22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8" name="Google Shape;118;p22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22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23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23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4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24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4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7" name="Google Shape;137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5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25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25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26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6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6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7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2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2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7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8" name="Google Shape;158;p27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0" name="Google Shape;160;p27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27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7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4" name="Google Shape;164;p27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7" name="Google Shape;167;p28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8" name="Google Shape;168;p28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28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8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8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28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7" name="Google Shape;177;p28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28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3" name="Google Shape;183;p29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9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9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9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9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0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93" name="Google Shape;193;p3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6" name="Google Shape;196;p30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7" name="Google Shape;197;p30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0" name="Google Shape;200;p31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1" name="Google Shape;201;p31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2" name="Google Shape;202;p31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1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1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7" name="Google Shape;207;p31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8" name="Google Shape;208;p3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2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32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3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3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32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7" name="Google Shape;217;p32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" name="Google Shape;218;p32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9" name="Google Shape;219;p32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32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33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33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33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3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3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3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3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33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33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" name="Google Shape;234;p33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33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33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33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33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4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3" name="Google Shape;243;p34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4" name="Google Shape;244;p34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34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34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7" name="Google Shape;247;p34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8" name="Google Shape;248;p34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4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34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1" name="Google Shape;251;p34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2" name="Google Shape;252;p34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4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34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5" name="Google Shape;255;p34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6" name="Google Shape;256;p3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4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4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4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3" name="Google Shape;263;p35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4" name="Google Shape;264;p35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5" name="Google Shape;265;p35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6" name="Google Shape;266;p35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7" name="Google Shape;267;p35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8" name="Google Shape;268;p35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9" name="Google Shape;269;p35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0" name="Google Shape;270;p35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1" name="Google Shape;271;p35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2" name="Google Shape;272;p35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35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5" name="Google Shape;275;p35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35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35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35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35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5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5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6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36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36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36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3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36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6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3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6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4" name="Google Shape;294;p36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37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98" name="Google Shape;298;p3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3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7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4" name="Google Shape;304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3" name="Google Shape;313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8" name="Google Shape;318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3" name="Google Shape;323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4" name="Google Shape;324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9" name="Google Shape;329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4" name="Google Shape;334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5" name="Google Shape;335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6" name="Google Shape;336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7" name="Google Shape;337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6" name="Google Shape;346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7" name="Google Shape;347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3" name="Google Shape;353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4" name="Google Shape;354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1" name="Google Shape;361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3" name="Google Shape;363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4" name="Google Shape;364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7" name="Google Shape;377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0" name="Google Shape;380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5" name="Google Shape;38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7" name="Google Shape;387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8" name="Google Shape;388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hyperlink" Target="https://github.com/suy3sh/Revature_Train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9"/>
          <p:cNvSpPr/>
          <p:nvPr/>
        </p:nvSpPr>
        <p:spPr>
          <a:xfrm>
            <a:off x="4629750" y="3219178"/>
            <a:ext cx="4229700" cy="145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7" name="Google Shape;407;p59"/>
          <p:cNvSpPr/>
          <p:nvPr/>
        </p:nvSpPr>
        <p:spPr>
          <a:xfrm>
            <a:off x="4629750" y="3217800"/>
            <a:ext cx="4229700" cy="1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8" name="Google Shape;408;p59"/>
          <p:cNvSpPr txBox="1"/>
          <p:nvPr>
            <p:ph type="title"/>
          </p:nvPr>
        </p:nvSpPr>
        <p:spPr>
          <a:xfrm>
            <a:off x="283850" y="565788"/>
            <a:ext cx="5960400" cy="265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Project 0:</a:t>
            </a:r>
            <a:r>
              <a:rPr lang="en"/>
              <a:t> Arcade Java Console Application</a:t>
            </a:r>
            <a:endParaRPr/>
          </a:p>
        </p:txBody>
      </p:sp>
      <p:sp>
        <p:nvSpPr>
          <p:cNvPr id="409" name="Google Shape;409;p5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59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Revature x Cognizant</a:t>
            </a:r>
            <a:endParaRPr/>
          </a:p>
        </p:txBody>
      </p:sp>
      <p:sp>
        <p:nvSpPr>
          <p:cNvPr id="411" name="Google Shape;411;p59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Suyesh</a:t>
            </a:r>
            <a:r>
              <a:rPr lang="en" sz="1300">
                <a:solidFill>
                  <a:schemeClr val="dk1"/>
                </a:solidFill>
              </a:rPr>
              <a:t> Shrestha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4C2F4"/>
                </a:solidFill>
              </a:rPr>
              <a:t>December 23</a:t>
            </a:r>
            <a:r>
              <a:rPr baseline="30000" lang="en">
                <a:solidFill>
                  <a:srgbClr val="A4C2F4"/>
                </a:solidFill>
              </a:rPr>
              <a:t>rd</a:t>
            </a:r>
            <a:r>
              <a:rPr lang="en">
                <a:solidFill>
                  <a:srgbClr val="A4C2F4"/>
                </a:solidFill>
              </a:rPr>
              <a:t>, 2025</a:t>
            </a:r>
            <a:endParaRPr>
              <a:solidFill>
                <a:srgbClr val="A4C2F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2" name="Google Shape;412;p59"/>
          <p:cNvSpPr/>
          <p:nvPr/>
        </p:nvSpPr>
        <p:spPr>
          <a:xfrm rot="5400000">
            <a:off x="4572010" y="2155847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3" name="Google Shape;413;p59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59"/>
          <p:cNvCxnSpPr/>
          <p:nvPr/>
        </p:nvCxnSpPr>
        <p:spPr>
          <a:xfrm>
            <a:off x="283850" y="1751842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59"/>
          <p:cNvCxnSpPr/>
          <p:nvPr/>
        </p:nvCxnSpPr>
        <p:spPr>
          <a:xfrm>
            <a:off x="283850" y="3217783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59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0"/>
          <p:cNvSpPr txBox="1"/>
          <p:nvPr>
            <p:ph idx="12" type="sldNum"/>
          </p:nvPr>
        </p:nvSpPr>
        <p:spPr>
          <a:xfrm>
            <a:off x="8347266" y="4782125"/>
            <a:ext cx="5136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2" name="Google Shape;422;p60"/>
          <p:cNvSpPr txBox="1"/>
          <p:nvPr>
            <p:ph type="title"/>
          </p:nvPr>
        </p:nvSpPr>
        <p:spPr>
          <a:xfrm>
            <a:off x="2363478" y="285900"/>
            <a:ext cx="42972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Structure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423" name="Google Shape;423;p60"/>
          <p:cNvGrpSpPr/>
          <p:nvPr/>
        </p:nvGrpSpPr>
        <p:grpSpPr>
          <a:xfrm>
            <a:off x="2394475" y="1990971"/>
            <a:ext cx="6522894" cy="3062031"/>
            <a:chOff x="281982" y="2073250"/>
            <a:chExt cx="8574858" cy="2860375"/>
          </a:xfrm>
        </p:grpSpPr>
        <p:cxnSp>
          <p:nvCxnSpPr>
            <p:cNvPr id="424" name="Google Shape;424;p60"/>
            <p:cNvCxnSpPr/>
            <p:nvPr/>
          </p:nvCxnSpPr>
          <p:spPr>
            <a:xfrm>
              <a:off x="283839" y="2634200"/>
              <a:ext cx="856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5" name="Google Shape;425;p60"/>
            <p:cNvSpPr/>
            <p:nvPr/>
          </p:nvSpPr>
          <p:spPr>
            <a:xfrm>
              <a:off x="2457745" y="2598250"/>
              <a:ext cx="72000" cy="7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6" name="Google Shape;426;p60"/>
            <p:cNvSpPr/>
            <p:nvPr/>
          </p:nvSpPr>
          <p:spPr>
            <a:xfrm>
              <a:off x="281982" y="2598250"/>
              <a:ext cx="72000" cy="7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7" name="Google Shape;427;p60"/>
            <p:cNvSpPr/>
            <p:nvPr/>
          </p:nvSpPr>
          <p:spPr>
            <a:xfrm>
              <a:off x="4629757" y="2598250"/>
              <a:ext cx="72000" cy="7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8" name="Google Shape;428;p60"/>
            <p:cNvSpPr/>
            <p:nvPr/>
          </p:nvSpPr>
          <p:spPr>
            <a:xfrm>
              <a:off x="6801750" y="2598250"/>
              <a:ext cx="72000" cy="7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9" name="Google Shape;429;p60"/>
            <p:cNvSpPr txBox="1"/>
            <p:nvPr/>
          </p:nvSpPr>
          <p:spPr>
            <a:xfrm>
              <a:off x="284700" y="2073250"/>
              <a:ext cx="15501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Repository</a:t>
              </a:r>
              <a:endParaRPr sz="1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30" name="Google Shape;430;p60"/>
            <p:cNvGrpSpPr/>
            <p:nvPr/>
          </p:nvGrpSpPr>
          <p:grpSpPr>
            <a:xfrm>
              <a:off x="8745240" y="2525627"/>
              <a:ext cx="111600" cy="217197"/>
              <a:chOff x="8675707" y="2525627"/>
              <a:chExt cx="111600" cy="217197"/>
            </a:xfrm>
          </p:grpSpPr>
          <p:cxnSp>
            <p:nvCxnSpPr>
              <p:cNvPr id="431" name="Google Shape;431;p60"/>
              <p:cNvCxnSpPr/>
              <p:nvPr/>
            </p:nvCxnSpPr>
            <p:spPr>
              <a:xfrm rot="10800000">
                <a:off x="8675707" y="2525627"/>
                <a:ext cx="111600" cy="1116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" name="Google Shape;432;p60"/>
              <p:cNvCxnSpPr/>
              <p:nvPr/>
            </p:nvCxnSpPr>
            <p:spPr>
              <a:xfrm flipH="1">
                <a:off x="8675707" y="2631223"/>
                <a:ext cx="111600" cy="1116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33" name="Google Shape;433;p60"/>
            <p:cNvSpPr txBox="1"/>
            <p:nvPr/>
          </p:nvSpPr>
          <p:spPr>
            <a:xfrm>
              <a:off x="2456700" y="2891825"/>
              <a:ext cx="2054700" cy="143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Service Layer handles business logic</a:t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The Service Layer uses CRUD operations to handle entities from the DAO layer.</a:t>
              </a:r>
              <a:endPara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4" name="Google Shape;434;p60"/>
            <p:cNvSpPr txBox="1"/>
            <p:nvPr/>
          </p:nvSpPr>
          <p:spPr>
            <a:xfrm>
              <a:off x="4563993" y="2922437"/>
              <a:ext cx="2054700" cy="12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Controller Layer handles User I/O</a:t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Uses service functions to handle input and output for game and player handling.</a:t>
              </a:r>
              <a:endPara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5" name="Google Shape;435;p60"/>
            <p:cNvSpPr txBox="1"/>
            <p:nvPr/>
          </p:nvSpPr>
          <p:spPr>
            <a:xfrm>
              <a:off x="6801750" y="2891825"/>
              <a:ext cx="2054700" cy="204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Main Method calls the Controller Layer functions and objects</a:t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Main method creates console menu UI and calls the Game controller depending on user input.</a:t>
              </a:r>
              <a:endPara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6" name="Google Shape;436;p60"/>
            <p:cNvSpPr txBox="1"/>
            <p:nvPr/>
          </p:nvSpPr>
          <p:spPr>
            <a:xfrm>
              <a:off x="2456700" y="2073250"/>
              <a:ext cx="15765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Service</a:t>
              </a:r>
              <a:endParaRPr sz="1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7" name="Google Shape;437;p60"/>
            <p:cNvSpPr txBox="1"/>
            <p:nvPr/>
          </p:nvSpPr>
          <p:spPr>
            <a:xfrm>
              <a:off x="4629750" y="2073250"/>
              <a:ext cx="16023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Controller</a:t>
              </a:r>
              <a:endParaRPr sz="1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8" name="Google Shape;438;p60"/>
            <p:cNvSpPr txBox="1"/>
            <p:nvPr/>
          </p:nvSpPr>
          <p:spPr>
            <a:xfrm>
              <a:off x="6803475" y="2073250"/>
              <a:ext cx="16269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Main</a:t>
              </a:r>
              <a:endParaRPr sz="1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9" name="Google Shape;439;p60"/>
            <p:cNvSpPr txBox="1"/>
            <p:nvPr/>
          </p:nvSpPr>
          <p:spPr>
            <a:xfrm>
              <a:off x="283650" y="2860925"/>
              <a:ext cx="2054700" cy="192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Repository Layer communicates with the Postgres Database</a:t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The Repository Layer uses JDBC API to communicate with the database in order to achieve persistence within the application.</a:t>
              </a:r>
              <a:endPara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40" name="Google Shape;440;p60"/>
          <p:cNvSpPr txBox="1"/>
          <p:nvPr/>
        </p:nvSpPr>
        <p:spPr>
          <a:xfrm>
            <a:off x="2394478" y="1032225"/>
            <a:ext cx="6126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Arcade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Users are able to play games such as Coin Flip and Rock, Paper, and Scissors and wager points to either win or lose. 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Points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and users are tracked through the database.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41" name="Google Shape;441;p60" title="Screenshot 2025-12-23 1012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1762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1"/>
          <p:cNvSpPr txBox="1"/>
          <p:nvPr>
            <p:ph type="title"/>
          </p:nvPr>
        </p:nvSpPr>
        <p:spPr>
          <a:xfrm>
            <a:off x="497100" y="348500"/>
            <a:ext cx="4074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Entities</a:t>
            </a:r>
            <a:endParaRPr/>
          </a:p>
        </p:txBody>
      </p:sp>
      <p:sp>
        <p:nvSpPr>
          <p:cNvPr id="447" name="Google Shape;447;p61"/>
          <p:cNvSpPr txBox="1"/>
          <p:nvPr>
            <p:ph idx="2" type="body"/>
          </p:nvPr>
        </p:nvSpPr>
        <p:spPr>
          <a:xfrm>
            <a:off x="568850" y="1223600"/>
            <a:ext cx="22920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</a:rPr>
              <a:t>Player</a:t>
            </a:r>
            <a:endParaRPr b="1" sz="15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Represents each user that enters the Arcade.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graphicFrame>
        <p:nvGraphicFramePr>
          <p:cNvPr id="448" name="Google Shape;448;p61"/>
          <p:cNvGraphicFramePr/>
          <p:nvPr/>
        </p:nvGraphicFramePr>
        <p:xfrm>
          <a:off x="568850" y="263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{FB80EFF0-DB22-42A8-9BD6-F4F7823A8192}</a:tableStyleId>
              </a:tblPr>
              <a:tblGrid>
                <a:gridCol w="541000"/>
                <a:gridCol w="1443425"/>
              </a:tblGrid>
              <a:tr h="26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id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nteger PRIMARY KEY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6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name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varChar(100)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6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points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integer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9" name="Google Shape;449;p61"/>
          <p:cNvSpPr txBox="1"/>
          <p:nvPr>
            <p:ph idx="2" type="body"/>
          </p:nvPr>
        </p:nvSpPr>
        <p:spPr>
          <a:xfrm>
            <a:off x="3483750" y="1223600"/>
            <a:ext cx="22920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</a:rPr>
              <a:t>Wager</a:t>
            </a:r>
            <a:endParaRPr b="1" sz="15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Represents each time a Player plays a game and the </a:t>
            </a:r>
            <a:r>
              <a:rPr lang="en" sz="1300"/>
              <a:t>amount</a:t>
            </a:r>
            <a:r>
              <a:rPr lang="en" sz="1300"/>
              <a:t> of points they are playing with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graphicFrame>
        <p:nvGraphicFramePr>
          <p:cNvPr id="450" name="Google Shape;450;p61"/>
          <p:cNvGraphicFramePr/>
          <p:nvPr/>
        </p:nvGraphicFramePr>
        <p:xfrm>
          <a:off x="3460338" y="263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{FB80EFF0-DB22-42A8-9BD6-F4F7823A8192}</a:tableStyleId>
              </a:tblPr>
              <a:tblGrid>
                <a:gridCol w="724150"/>
                <a:gridCol w="1379325"/>
              </a:tblGrid>
              <a:tr h="26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id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integer PRIMARY KEY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6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player_id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nteger FOREIGN KEY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6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game_id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nteger FOREIGN KEY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6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points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integer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1" name="Google Shape;451;p61"/>
          <p:cNvSpPr txBox="1"/>
          <p:nvPr>
            <p:ph idx="2" type="body"/>
          </p:nvPr>
        </p:nvSpPr>
        <p:spPr>
          <a:xfrm>
            <a:off x="6398650" y="1223600"/>
            <a:ext cx="22920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</a:rPr>
              <a:t>Game</a:t>
            </a:r>
            <a:endParaRPr b="1" sz="15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Coin Flip and Rock Paper Scissors. These entities are static cannot be </a:t>
            </a:r>
            <a:r>
              <a:rPr lang="en" sz="1300"/>
              <a:t>edited.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graphicFrame>
        <p:nvGraphicFramePr>
          <p:cNvPr id="452" name="Google Shape;452;p61"/>
          <p:cNvGraphicFramePr/>
          <p:nvPr/>
        </p:nvGraphicFramePr>
        <p:xfrm>
          <a:off x="6398650" y="263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{FB80EFF0-DB22-42A8-9BD6-F4F7823A8192}</a:tableStyleId>
              </a:tblPr>
              <a:tblGrid>
                <a:gridCol w="787425"/>
                <a:gridCol w="1355750"/>
              </a:tblGrid>
              <a:tr h="23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id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integer PRIMARY KEY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name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varChar(100)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text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min_wager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integer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3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multiplier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numeric(4,2)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453" name="Google Shape;453;p61"/>
          <p:cNvCxnSpPr/>
          <p:nvPr/>
        </p:nvCxnSpPr>
        <p:spPr>
          <a:xfrm>
            <a:off x="601512" y="1553168"/>
            <a:ext cx="8056500" cy="4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62"/>
          <p:cNvCxnSpPr/>
          <p:nvPr/>
        </p:nvCxnSpPr>
        <p:spPr>
          <a:xfrm>
            <a:off x="286250" y="2884833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62"/>
          <p:cNvSpPr txBox="1"/>
          <p:nvPr>
            <p:ph type="title"/>
          </p:nvPr>
        </p:nvSpPr>
        <p:spPr>
          <a:xfrm>
            <a:off x="284650" y="2193600"/>
            <a:ext cx="6683700" cy="704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Demo</a:t>
            </a:r>
            <a:endParaRPr/>
          </a:p>
        </p:txBody>
      </p:sp>
      <p:cxnSp>
        <p:nvCxnSpPr>
          <p:cNvPr id="460" name="Google Shape;460;p62"/>
          <p:cNvCxnSpPr/>
          <p:nvPr/>
        </p:nvCxnSpPr>
        <p:spPr>
          <a:xfrm>
            <a:off x="286250" y="2144258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62"/>
          <p:cNvCxnSpPr/>
          <p:nvPr/>
        </p:nvCxnSpPr>
        <p:spPr>
          <a:xfrm>
            <a:off x="285450" y="359258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2627" y="3386700"/>
            <a:ext cx="1472123" cy="12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3"/>
          <p:cNvSpPr/>
          <p:nvPr/>
        </p:nvSpPr>
        <p:spPr>
          <a:xfrm>
            <a:off x="5064850" y="3217800"/>
            <a:ext cx="3794700" cy="146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8" name="Google Shape;468;p63"/>
          <p:cNvSpPr/>
          <p:nvPr/>
        </p:nvSpPr>
        <p:spPr>
          <a:xfrm>
            <a:off x="3592625" y="3217800"/>
            <a:ext cx="5266800" cy="168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69" name="Google Shape;469;p63"/>
          <p:cNvCxnSpPr/>
          <p:nvPr/>
        </p:nvCxnSpPr>
        <p:spPr>
          <a:xfrm>
            <a:off x="283850" y="3217783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" name="Google Shape;470;p63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Public Repo + Questions</a:t>
            </a:r>
            <a:endParaRPr/>
          </a:p>
        </p:txBody>
      </p:sp>
      <p:sp>
        <p:nvSpPr>
          <p:cNvPr id="471" name="Google Shape;471;p63"/>
          <p:cNvSpPr txBox="1"/>
          <p:nvPr>
            <p:ph idx="1" type="subTitle"/>
          </p:nvPr>
        </p:nvSpPr>
        <p:spPr>
          <a:xfrm>
            <a:off x="5300800" y="3602000"/>
            <a:ext cx="32997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https://github.com/suy3sh/Revature_Training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(Inside P0 folder)</a:t>
            </a:r>
            <a:endParaRPr/>
          </a:p>
        </p:txBody>
      </p:sp>
      <p:sp>
        <p:nvSpPr>
          <p:cNvPr id="472" name="Google Shape;472;p6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